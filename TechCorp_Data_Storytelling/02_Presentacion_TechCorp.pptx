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Transformación digital: el valor ya está apareciendo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Decisión ejecutiva tras el periodo analizado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La transformación está funcionando.</a:t>
            </a:r>
          </a:p>
          <a:p>
            <a:pPr algn="ctr">
              <a:defRPr sz="2200"/>
            </a:pPr>
            <a:r>
              <a:t>El reto ahora es hacerla sostenible fortaleciendo personas y capacidades tecnológicas.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1. La operación mejoró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La productividad sube mientras la tasa de defectos cae</a:t>
            </a:r>
          </a:p>
        </p:txBody>
      </p:sp>
      <p:pic>
        <p:nvPicPr>
          <p:cNvPr id="4" name="Picture 3" descr="tech_productiv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77840" cy="2967521"/>
          </a:xfrm>
          <a:prstGeom prst="rect">
            <a:avLst/>
          </a:prstGeom>
        </p:spPr>
      </p:pic>
      <p:pic>
        <p:nvPicPr>
          <p:cNvPr id="5" name="Picture 4" descr="tech_defec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86400" cy="2918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2. El cliente también percibe el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Mejor NPS, menor tasa de reclamos y mayor recompra</a:t>
            </a:r>
          </a:p>
        </p:txBody>
      </p:sp>
      <p:pic>
        <p:nvPicPr>
          <p:cNvPr id="4" name="Picture 3" descr="tech_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669280" cy="3447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1600200"/>
            <a:ext cx="4754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NPS: 42 → 66</a:t>
            </a:r>
          </a:p>
          <a:p>
            <a:pPr>
              <a:spcAft>
                <a:spcPts val="1800"/>
              </a:spcAft>
              <a:defRPr sz="2200"/>
            </a:pPr>
            <a:r>
              <a:t>Reclamos: 8.6% → 2.5%</a:t>
            </a:r>
          </a:p>
          <a:p>
            <a:pPr>
              <a:spcAft>
                <a:spcPts val="1800"/>
              </a:spcAft>
              <a:defRPr sz="2200"/>
            </a:pPr>
            <a:r>
              <a:t>Recompra: 65.1% → 77.8%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3. La inversión cruza el punto de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El ROI se vuelve positivo y la adopción tecnológica se consolida</a:t>
            </a:r>
          </a:p>
        </p:txBody>
      </p:sp>
      <p:pic>
        <p:nvPicPr>
          <p:cNvPr id="4" name="Picture 3" descr="tech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77840" cy="2969611"/>
          </a:xfrm>
          <a:prstGeom prst="rect">
            <a:avLst/>
          </a:prstGeom>
        </p:spPr>
      </p:pic>
      <p:pic>
        <p:nvPicPr>
          <p:cNvPr id="5" name="Picture 4" descr="tech_adop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86400" cy="2918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4. El principal riesgo está en las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La sostenibilidad del cambio exige intervenir la carga y la brecha de talento</a:t>
            </a:r>
          </a:p>
        </p:txBody>
      </p:sp>
      <p:pic>
        <p:nvPicPr>
          <p:cNvPr id="4" name="Picture 3" descr="tech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577840" cy="3391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417320"/>
            <a:ext cx="4846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Satisfacción empleados: 67 → 55</a:t>
            </a:r>
          </a:p>
          <a:p>
            <a:pPr>
              <a:spcAft>
                <a:spcPts val="1400"/>
              </a:spcAft>
              <a:defRPr sz="2000"/>
            </a:pPr>
            <a:r>
              <a:t>Horas extra promedio: 4.8 → 8.3</a:t>
            </a:r>
          </a:p>
          <a:p>
            <a:pPr>
              <a:spcAft>
                <a:spcPts val="1400"/>
              </a:spcAft>
              <a:defRPr sz="2000"/>
            </a:pPr>
            <a:r>
              <a:t>Vacantes tech sin cubrir: 1 → 20</a:t>
            </a:r>
          </a:p>
          <a:p>
            <a:pPr>
              <a:spcAft>
                <a:spcPts val="1400"/>
              </a:spcAft>
              <a:defRPr sz="2000"/>
            </a:pPr>
            <a:r>
              <a:t>Resistencia al cambio: 7 →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ptos Display"/>
              </a:defRPr>
            </a:pPr>
            <a:r>
              <a:t>5. Recomendación: continuar y consolidar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Aptos"/>
              </a:defRPr>
            </a:pPr>
            <a:r>
              <a:t>Segunda fase de transformación centrada en sostenibilidad organizacional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960120"/>
          </a:xfrm>
          <a:prstGeom prst="roundRect">
            <a:avLst/>
          </a:prstGeom>
          <a:solidFill>
            <a:srgbClr val="F2F6F5"/>
          </a:solidFill>
          <a:ln>
            <a:solidFill>
              <a:srgbClr val="BE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Continuar la inversión</a:t>
            </a:r>
          </a:p>
          <a:p>
            <a:pPr>
              <a:defRPr sz="1300"/>
            </a:pPr>
            <a:r>
              <a:t>Los resultados operacionales, de cliente y ROI justifican seguir.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515600" cy="960120"/>
          </a:xfrm>
          <a:prstGeom prst="roundRect">
            <a:avLst/>
          </a:prstGeom>
          <a:solidFill>
            <a:srgbClr val="F2F6F5"/>
          </a:solidFill>
          <a:ln>
            <a:solidFill>
              <a:srgbClr val="BE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Cerrar la brecha de talento</a:t>
            </a:r>
          </a:p>
          <a:p>
            <a:pPr>
              <a:defRPr sz="1300"/>
            </a:pPr>
            <a:r>
              <a:t>Priorizar contratación tech y capacitación avanzada.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10515600" cy="960120"/>
          </a:xfrm>
          <a:prstGeom prst="roundRect">
            <a:avLst/>
          </a:prstGeom>
          <a:solidFill>
            <a:srgbClr val="F2F6F5"/>
          </a:solidFill>
          <a:ln>
            <a:solidFill>
              <a:srgbClr val="BE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Reducir presión operativa</a:t>
            </a:r>
          </a:p>
          <a:p>
            <a:pPr>
              <a:defRPr sz="1300"/>
            </a:pPr>
            <a:r>
              <a:t>Monitorear horas extra, carga y satisfacción.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960120"/>
          </a:xfrm>
          <a:prstGeom prst="roundRect">
            <a:avLst/>
          </a:prstGeom>
          <a:solidFill>
            <a:srgbClr val="F2F6F5"/>
          </a:solidFill>
          <a:ln>
            <a:solidFill>
              <a:srgbClr val="BE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Gobernar con datos</a:t>
            </a:r>
          </a:p>
          <a:p>
            <a:pPr>
              <a:defRPr sz="1300"/>
            </a:pPr>
            <a:r>
              <a:t>Tablero ejecutivo conjunto: valor + adopción + personas.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TechCorp | Narrativa ejecutiva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